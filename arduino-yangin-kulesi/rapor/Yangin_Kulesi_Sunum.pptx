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Merhaba, projem otomatik bir yangın tespit ve söndürme kulesi. Hem gerçek bir prototip hem de bilgisayarda çalışan bir benzetimini (dijital ikiz) yaptım. Kısaca anlatacağım.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Yangında en kritik şey erken müdahale. Piyasadaki çoğu sistem sadece alarm çalıyor, söndürmeyi insan yapıyor. Ben hem yangını bulup hem de otomatik su sıkan, ucuz ve kendi kendine çalışan bir sistem hedefledim. Sağda sistemin 3 boyutlu modeli görünüyor.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Sistem 5 adımla çalışıyor: önce alt servo, üzerindeki alev sensörüyle ortamı sağa-sola tarar. Alevi gördüğü açı, yangının yönüdür. Üstteki ikinci servo su nozülünü o yöne çevirir, pompa çalışır ve su sıkar. Alev sönünce sistem tekrar taramaya başlar. Yani: tara, bul, nişan al, söndür, dön. Aynı mantığı hem gerçek Arduino kodunda hem benzetimde kullandım.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Bütün parçaları bilgisayarda çizip 3D yazıcıyla bastım: servo tutucuları, sensör tutucusu, kuleyi yükselten parça, su nozülünün kelepçesi ve elektroniğin oturduğu kutu. Parçalar gerçek servo ölçülerine göre tasarlandı; kablolar için kanallar, nozül için ayarlanabilir bir menteşe var.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Beyni bir Arduino (ya da ESP32). İki servo, alev sensörü, pompayı süren bir röle ve durum LED'leri var. Önemli nokta: servolar ve pompa Arduino'dan değil, ayrı bir 5 volt güçten beslenir ve tüm topraklar ortaktır. Röle, pompayı açıp kapatan anahtar görevi görür. Şemada hangi parçanın hangi pine bağlandığı görünüyor.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Projenin özgün yanı şu: gerçek devreyi kurmadan önce, tarayıcıda çalışan üç boyutlu bir benzetim (dijital ikiz) yaptım. Burada servolar, sensör, su ve yangın canlandırılıyor; kontrol mantığını önce burada doğruladım. İstenirse bu benzetim gerçek karta bağlanıp onu da yönetebiliyor. Bu, hem hata riskini hem maliyeti düşürüyor.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Sonuç olarak hem çalışan bir prototip hem de benzetimi elde ettim. Tara-bul-nişan-söndür mantığı her ikisinde de tutarlı çalışıyor. Maliyeti yaklaşık 1000 lira, parçalar modüler. İleride kamera, gaz sensörü veya kablosuz bildirim eklenebilir. Teşekkür ederim, sorularınızı alabilirim.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Dinlediğiniz için teşekkürler, sorularınızı bekliyorum.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2A43"/>
        </a:solidFill>
        <a:effectLst/>
      </p:bgPr>
    </p:bg>
    <p:spTree>
      <p:nvGrpSpPr>
        <p:cNvPr id="1" name=""/>
        <p:cNvGrpSpPr/>
        <p:nvPr/>
      </p:nvGrpSpPr>
      <p:grpSpPr/>
      <p:sp>
        <p:nvSpPr>
          <p:cNvPr id="2" name="Rectangle 1"/>
          <p:cNvSpPr/>
          <p:nvPr/>
        </p:nvSpPr>
        <p:spPr>
          <a:xfrm>
            <a:off x="0" y="4434840"/>
            <a:ext cx="12191695" cy="109728"/>
          </a:xfrm>
          <a:prstGeom prst="rect">
            <a:avLst/>
          </a:prstGeom>
          <a:solidFill>
            <a:srgbClr val="2F86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0"/>
            <a:ext cx="10698480" cy="2377440"/>
          </a:xfrm>
          <a:prstGeom prst="rect">
            <a:avLst/>
          </a:prstGeom>
          <a:noFill/>
        </p:spPr>
        <p:txBody>
          <a:bodyPr wrap="square">
            <a:spAutoFit/>
          </a:bodyPr>
          <a:lstStyle/>
          <a:p>
            <a:pPr algn="l"/>
            <a:r>
              <a:rPr sz="4000" b="1">
                <a:solidFill>
                  <a:srgbClr val="FFFFFF"/>
                </a:solidFill>
                <a:latin typeface="Calibri"/>
              </a:rPr>
              <a:t>OTOMATİK YANGIN TESPİT VE SÖNDÜRME KULESİ</a:t>
            </a:r>
          </a:p>
          <a:p>
            <a:pPr algn="l"/>
            <a:r>
              <a:rPr sz="2400" b="0">
                <a:solidFill>
                  <a:srgbClr val="9FC4E8"/>
                </a:solidFill>
                <a:latin typeface="Calibri"/>
              </a:rPr>
              <a:t>Arduino tabanlı dijital ikiz ve 3D baskı uygulaması</a:t>
            </a:r>
          </a:p>
        </p:txBody>
      </p:sp>
      <p:sp>
        <p:nvSpPr>
          <p:cNvPr id="4" name="TextBox 3"/>
          <p:cNvSpPr txBox="1"/>
          <p:nvPr/>
        </p:nvSpPr>
        <p:spPr>
          <a:xfrm>
            <a:off x="731520" y="4754880"/>
            <a:ext cx="10698480" cy="1371600"/>
          </a:xfrm>
          <a:prstGeom prst="rect">
            <a:avLst/>
          </a:prstGeom>
          <a:noFill/>
        </p:spPr>
        <p:txBody>
          <a:bodyPr wrap="none">
            <a:spAutoFit/>
          </a:bodyPr>
          <a:lstStyle/>
          <a:p>
            <a:pPr algn="l"/>
            <a:r>
              <a:rPr sz="2000" b="0">
                <a:solidFill>
                  <a:srgbClr val="FFFFFF"/>
                </a:solidFill>
                <a:latin typeface="Calibri"/>
              </a:rPr>
              <a:t>(Adınız Soyadınız – Numaranız)</a:t>
            </a:r>
          </a:p>
          <a:p>
            <a:pPr algn="l"/>
            <a:r>
              <a:rPr sz="1600" b="0">
                <a:solidFill>
                  <a:srgbClr val="9FC4E8"/>
                </a:solidFill>
                <a:latin typeface="Calibri"/>
              </a:rPr>
              <a:t>Erciyes Üniversitesi · Mekatronik Mühendisliği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22A43"/>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tIns="137160"/>
          <a:lstStyle/>
          <a:p>
            <a:pPr algn="l"/>
            <a:r>
              <a:rPr sz="3000" b="1">
                <a:solidFill>
                  <a:srgbClr val="FFFFFF"/>
                </a:solidFill>
                <a:latin typeface="Calibri"/>
              </a:rPr>
              <a:t>Problem ve Amaç</a:t>
            </a:r>
          </a:p>
        </p:txBody>
      </p:sp>
      <p:sp>
        <p:nvSpPr>
          <p:cNvPr id="3" name="TextBox 2"/>
          <p:cNvSpPr txBox="1"/>
          <p:nvPr/>
        </p:nvSpPr>
        <p:spPr>
          <a:xfrm>
            <a:off x="502920" y="1371600"/>
            <a:ext cx="6400800" cy="4937760"/>
          </a:xfrm>
          <a:prstGeom prst="rect">
            <a:avLst/>
          </a:prstGeom>
          <a:noFill/>
        </p:spPr>
        <p:txBody>
          <a:bodyPr wrap="square">
            <a:spAutoFit/>
          </a:bodyPr>
          <a:lstStyle/>
          <a:p>
            <a:pPr algn="l">
              <a:spcAft>
                <a:spcPts val="1000"/>
              </a:spcAft>
            </a:pPr>
            <a:r>
              <a:rPr sz="2000" b="1">
                <a:solidFill>
                  <a:srgbClr val="122A43"/>
                </a:solidFill>
                <a:latin typeface="Calibri"/>
              </a:rPr>
              <a:t>•  Yangında erken tespit ve hızlı müdahale hayati önemde</a:t>
            </a:r>
          </a:p>
          <a:p>
            <a:pPr algn="l">
              <a:spcAft>
                <a:spcPts val="1000"/>
              </a:spcAft>
            </a:pPr>
            <a:r>
              <a:rPr sz="2000" b="1">
                <a:solidFill>
                  <a:srgbClr val="122A43"/>
                </a:solidFill>
                <a:latin typeface="Calibri"/>
              </a:rPr>
              <a:t>•  Çoğu sistem yalnızca ALARM verir; söndürme insana bağlı</a:t>
            </a:r>
          </a:p>
          <a:p>
            <a:pPr algn="l">
              <a:spcAft>
                <a:spcPts val="1000"/>
              </a:spcAft>
            </a:pPr>
            <a:r>
              <a:rPr sz="2000" b="1">
                <a:solidFill>
                  <a:srgbClr val="122A43"/>
                </a:solidFill>
                <a:latin typeface="Calibri"/>
              </a:rPr>
              <a:t>•  Amaç: ortamı tarayıp yangının yönünü bulan,</a:t>
            </a:r>
          </a:p>
          <a:p>
            <a:pPr lvl="1" algn="l">
              <a:spcAft>
                <a:spcPts val="1000"/>
              </a:spcAft>
            </a:pPr>
            <a:r>
              <a:rPr sz="1800" b="0">
                <a:solidFill>
                  <a:srgbClr val="333A45"/>
                </a:solidFill>
                <a:latin typeface="Calibri"/>
              </a:rPr>
              <a:t>–  otomatik su yönlendiren düşük maliyetli bir prototip</a:t>
            </a:r>
          </a:p>
          <a:p>
            <a:pPr algn="l">
              <a:spcAft>
                <a:spcPts val="1000"/>
              </a:spcAft>
            </a:pPr>
            <a:r>
              <a:rPr sz="2000" b="1">
                <a:solidFill>
                  <a:srgbClr val="122A43"/>
                </a:solidFill>
                <a:latin typeface="Calibri"/>
              </a:rPr>
              <a:t>•  Mikrodenetleyici ile tam otomatik çalışma</a:t>
            </a:r>
          </a:p>
        </p:txBody>
      </p:sp>
      <p:pic>
        <p:nvPicPr>
          <p:cNvPr id="4" name="Picture 3" descr="montaj.png"/>
          <p:cNvPicPr>
            <a:picLocks noChangeAspect="1"/>
          </p:cNvPicPr>
          <p:nvPr/>
        </p:nvPicPr>
        <p:blipFill>
          <a:blip r:embed="rId2"/>
          <a:stretch>
            <a:fillRect/>
          </a:stretch>
        </p:blipFill>
        <p:spPr>
          <a:xfrm>
            <a:off x="7040880" y="1371600"/>
            <a:ext cx="4754880" cy="4748784"/>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22A43"/>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tIns="137160"/>
          <a:lstStyle/>
          <a:p>
            <a:pPr algn="l"/>
            <a:r>
              <a:rPr sz="3000" b="1">
                <a:solidFill>
                  <a:srgbClr val="FFFFFF"/>
                </a:solidFill>
                <a:latin typeface="Calibri"/>
              </a:rPr>
              <a:t>Nasıl Çalışır? (Durum Makinesi)</a:t>
            </a:r>
          </a:p>
        </p:txBody>
      </p:sp>
      <p:sp>
        <p:nvSpPr>
          <p:cNvPr id="3" name="TextBox 2"/>
          <p:cNvSpPr txBox="1"/>
          <p:nvPr/>
        </p:nvSpPr>
        <p:spPr>
          <a:xfrm>
            <a:off x="502920" y="1371600"/>
            <a:ext cx="6400800" cy="4937760"/>
          </a:xfrm>
          <a:prstGeom prst="rect">
            <a:avLst/>
          </a:prstGeom>
          <a:noFill/>
        </p:spPr>
        <p:txBody>
          <a:bodyPr wrap="square">
            <a:spAutoFit/>
          </a:bodyPr>
          <a:lstStyle/>
          <a:p>
            <a:pPr algn="l">
              <a:spcAft>
                <a:spcPts val="1400"/>
              </a:spcAft>
            </a:pPr>
            <a:r>
              <a:rPr sz="2200" b="1">
                <a:solidFill>
                  <a:srgbClr val="122A43"/>
                </a:solidFill>
                <a:latin typeface="Calibri"/>
              </a:rPr>
              <a:t>•  TARA – alt servo sensörle 0–180° süpürür</a:t>
            </a:r>
          </a:p>
          <a:p>
            <a:pPr algn="l">
              <a:spcAft>
                <a:spcPts val="1400"/>
              </a:spcAft>
            </a:pPr>
            <a:r>
              <a:rPr sz="2200" b="1">
                <a:solidFill>
                  <a:srgbClr val="122A43"/>
                </a:solidFill>
                <a:latin typeface="Calibri"/>
              </a:rPr>
              <a:t>•  BUL – alev görülen açı = yangının yönü</a:t>
            </a:r>
          </a:p>
          <a:p>
            <a:pPr algn="l">
              <a:spcAft>
                <a:spcPts val="1400"/>
              </a:spcAft>
            </a:pPr>
            <a:r>
              <a:rPr sz="2200" b="1">
                <a:solidFill>
                  <a:srgbClr val="122A43"/>
                </a:solidFill>
                <a:latin typeface="Calibri"/>
              </a:rPr>
              <a:t>•  NİŞAN AL – üst servo nozülü o açıya çevirir</a:t>
            </a:r>
          </a:p>
          <a:p>
            <a:pPr algn="l">
              <a:spcAft>
                <a:spcPts val="1400"/>
              </a:spcAft>
            </a:pPr>
            <a:r>
              <a:rPr sz="2200" b="1">
                <a:solidFill>
                  <a:srgbClr val="122A43"/>
                </a:solidFill>
                <a:latin typeface="Calibri"/>
              </a:rPr>
              <a:t>•  SÖNDÜR – pompa çalışır, su püskürtülür</a:t>
            </a:r>
          </a:p>
          <a:p>
            <a:pPr algn="l">
              <a:spcAft>
                <a:spcPts val="1400"/>
              </a:spcAft>
            </a:pPr>
            <a:r>
              <a:rPr sz="2200" b="1">
                <a:solidFill>
                  <a:srgbClr val="122A43"/>
                </a:solidFill>
                <a:latin typeface="Calibri"/>
              </a:rPr>
              <a:t>•  DÖN – alev sönünce taramaya geri döner</a:t>
            </a:r>
          </a:p>
        </p:txBody>
      </p:sp>
      <p:pic>
        <p:nvPicPr>
          <p:cNvPr id="4" name="Picture 3" descr="montaj.png"/>
          <p:cNvPicPr>
            <a:picLocks noChangeAspect="1"/>
          </p:cNvPicPr>
          <p:nvPr/>
        </p:nvPicPr>
        <p:blipFill>
          <a:blip r:embed="rId2"/>
          <a:stretch>
            <a:fillRect/>
          </a:stretch>
        </p:blipFill>
        <p:spPr>
          <a:xfrm>
            <a:off x="7223760" y="1554480"/>
            <a:ext cx="4480560" cy="4474816"/>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22A43"/>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tIns="137160"/>
          <a:lstStyle/>
          <a:p>
            <a:pPr algn="l"/>
            <a:r>
              <a:rPr sz="3000" b="1">
                <a:solidFill>
                  <a:srgbClr val="FFFFFF"/>
                </a:solidFill>
                <a:latin typeface="Calibri"/>
              </a:rPr>
              <a:t>Mekanik Tasarım ve 3D Baskı</a:t>
            </a:r>
          </a:p>
        </p:txBody>
      </p:sp>
      <p:sp>
        <p:nvSpPr>
          <p:cNvPr id="3" name="TextBox 2"/>
          <p:cNvSpPr txBox="1"/>
          <p:nvPr/>
        </p:nvSpPr>
        <p:spPr>
          <a:xfrm>
            <a:off x="502920" y="1371600"/>
            <a:ext cx="5029200" cy="4937760"/>
          </a:xfrm>
          <a:prstGeom prst="rect">
            <a:avLst/>
          </a:prstGeom>
          <a:noFill/>
        </p:spPr>
        <p:txBody>
          <a:bodyPr wrap="square">
            <a:spAutoFit/>
          </a:bodyPr>
          <a:lstStyle/>
          <a:p>
            <a:pPr algn="l">
              <a:spcAft>
                <a:spcPts val="1000"/>
              </a:spcAft>
            </a:pPr>
            <a:r>
              <a:rPr sz="1900" b="1">
                <a:solidFill>
                  <a:srgbClr val="122A43"/>
                </a:solidFill>
                <a:latin typeface="Calibri"/>
              </a:rPr>
              <a:t>•  Tüm parçalar bilgisayarda tasarlandı, 3D yazıcıyla basıldı</a:t>
            </a:r>
          </a:p>
          <a:p>
            <a:pPr algn="l">
              <a:spcAft>
                <a:spcPts val="1000"/>
              </a:spcAft>
            </a:pPr>
            <a:r>
              <a:rPr sz="1900" b="1">
                <a:solidFill>
                  <a:srgbClr val="122A43"/>
                </a:solidFill>
                <a:latin typeface="Calibri"/>
              </a:rPr>
              <a:t>•  2× SG90 servo, alev sensörü, su nozülü, kontrol kutusu</a:t>
            </a:r>
          </a:p>
          <a:p>
            <a:pPr algn="l">
              <a:spcAft>
                <a:spcPts val="1000"/>
              </a:spcAft>
            </a:pPr>
            <a:r>
              <a:rPr sz="1900" b="1">
                <a:solidFill>
                  <a:srgbClr val="122A43"/>
                </a:solidFill>
                <a:latin typeface="Calibri"/>
              </a:rPr>
              <a:t>•  Nozül açısı elle ayarlanabilir</a:t>
            </a:r>
          </a:p>
          <a:p>
            <a:pPr algn="l">
              <a:spcAft>
                <a:spcPts val="1000"/>
              </a:spcAft>
            </a:pPr>
            <a:r>
              <a:rPr sz="1900" b="1">
                <a:solidFill>
                  <a:srgbClr val="122A43"/>
                </a:solidFill>
                <a:latin typeface="Calibri"/>
              </a:rPr>
              <a:t>•  Kablolar için kanallar ve elektronik için kapalı kutu</a:t>
            </a:r>
          </a:p>
        </p:txBody>
      </p:sp>
      <p:pic>
        <p:nvPicPr>
          <p:cNvPr id="4" name="Picture 3" descr="case.png"/>
          <p:cNvPicPr>
            <a:picLocks noChangeAspect="1"/>
          </p:cNvPicPr>
          <p:nvPr/>
        </p:nvPicPr>
        <p:blipFill>
          <a:blip r:embed="rId2"/>
          <a:stretch>
            <a:fillRect/>
          </a:stretch>
        </p:blipFill>
        <p:spPr>
          <a:xfrm>
            <a:off x="6035040" y="1325880"/>
            <a:ext cx="2926080" cy="2922329"/>
          </a:xfrm>
          <a:prstGeom prst="rect">
            <a:avLst/>
          </a:prstGeom>
        </p:spPr>
      </p:pic>
      <p:pic>
        <p:nvPicPr>
          <p:cNvPr id="5" name="Picture 4" descr="sensor.png"/>
          <p:cNvPicPr>
            <a:picLocks noChangeAspect="1"/>
          </p:cNvPicPr>
          <p:nvPr/>
        </p:nvPicPr>
        <p:blipFill>
          <a:blip r:embed="rId3"/>
          <a:stretch>
            <a:fillRect/>
          </a:stretch>
        </p:blipFill>
        <p:spPr>
          <a:xfrm>
            <a:off x="9052560" y="1325880"/>
            <a:ext cx="2743200" cy="2739683"/>
          </a:xfrm>
          <a:prstGeom prst="rect">
            <a:avLst/>
          </a:prstGeom>
        </p:spPr>
      </p:pic>
      <p:pic>
        <p:nvPicPr>
          <p:cNvPr id="6" name="Picture 5" descr="kule.png"/>
          <p:cNvPicPr>
            <a:picLocks noChangeAspect="1"/>
          </p:cNvPicPr>
          <p:nvPr/>
        </p:nvPicPr>
        <p:blipFill>
          <a:blip r:embed="rId4"/>
          <a:stretch>
            <a:fillRect/>
          </a:stretch>
        </p:blipFill>
        <p:spPr>
          <a:xfrm>
            <a:off x="6035040" y="3977639"/>
            <a:ext cx="2743200" cy="2739683"/>
          </a:xfrm>
          <a:prstGeom prst="rect">
            <a:avLst/>
          </a:prstGeom>
        </p:spPr>
      </p:pic>
      <p:pic>
        <p:nvPicPr>
          <p:cNvPr id="7" name="Picture 6" descr="nozul_taban.png"/>
          <p:cNvPicPr>
            <a:picLocks noChangeAspect="1"/>
          </p:cNvPicPr>
          <p:nvPr/>
        </p:nvPicPr>
        <p:blipFill>
          <a:blip r:embed="rId5"/>
          <a:stretch>
            <a:fillRect/>
          </a:stretch>
        </p:blipFill>
        <p:spPr>
          <a:xfrm>
            <a:off x="8961120" y="3977639"/>
            <a:ext cx="2834640" cy="2831006"/>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22A43"/>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tIns="137160"/>
          <a:lstStyle/>
          <a:p>
            <a:pPr algn="l"/>
            <a:r>
              <a:rPr sz="3000" b="1">
                <a:solidFill>
                  <a:srgbClr val="FFFFFF"/>
                </a:solidFill>
                <a:latin typeface="Calibri"/>
              </a:rPr>
              <a:t>Elektronik ve Bağlantılar</a:t>
            </a:r>
          </a:p>
        </p:txBody>
      </p:sp>
      <p:sp>
        <p:nvSpPr>
          <p:cNvPr id="3" name="TextBox 2"/>
          <p:cNvSpPr txBox="1"/>
          <p:nvPr/>
        </p:nvSpPr>
        <p:spPr>
          <a:xfrm>
            <a:off x="502920" y="1371600"/>
            <a:ext cx="4297680" cy="4937760"/>
          </a:xfrm>
          <a:prstGeom prst="rect">
            <a:avLst/>
          </a:prstGeom>
          <a:noFill/>
        </p:spPr>
        <p:txBody>
          <a:bodyPr wrap="square">
            <a:spAutoFit/>
          </a:bodyPr>
          <a:lstStyle/>
          <a:p>
            <a:pPr algn="l">
              <a:spcAft>
                <a:spcPts val="1000"/>
              </a:spcAft>
            </a:pPr>
            <a:r>
              <a:rPr sz="1800" b="1">
                <a:solidFill>
                  <a:srgbClr val="122A43"/>
                </a:solidFill>
                <a:latin typeface="Calibri"/>
              </a:rPr>
              <a:t>•  Arduino UNO / ESP32 ile kontrol</a:t>
            </a:r>
          </a:p>
          <a:p>
            <a:pPr algn="l">
              <a:spcAft>
                <a:spcPts val="1000"/>
              </a:spcAft>
            </a:pPr>
            <a:r>
              <a:rPr sz="1800" b="1">
                <a:solidFill>
                  <a:srgbClr val="122A43"/>
                </a:solidFill>
                <a:latin typeface="Calibri"/>
              </a:rPr>
              <a:t>•  2 servo, alev sensörü, röle + su pompası, 2 LED</a:t>
            </a:r>
          </a:p>
          <a:p>
            <a:pPr algn="l">
              <a:spcAft>
                <a:spcPts val="1000"/>
              </a:spcAft>
            </a:pPr>
            <a:r>
              <a:rPr sz="1800" b="1">
                <a:solidFill>
                  <a:srgbClr val="122A43"/>
                </a:solidFill>
                <a:latin typeface="Calibri"/>
              </a:rPr>
              <a:t>•  Servo/pompa AYRI 5V güçten, GND ortak</a:t>
            </a:r>
          </a:p>
          <a:p>
            <a:pPr algn="l">
              <a:spcAft>
                <a:spcPts val="1000"/>
              </a:spcAft>
            </a:pPr>
            <a:r>
              <a:rPr sz="1800" b="1">
                <a:solidFill>
                  <a:srgbClr val="122A43"/>
                </a:solidFill>
                <a:latin typeface="Calibri"/>
              </a:rPr>
              <a:t>•  Röle pompayı açıp kapatır</a:t>
            </a:r>
          </a:p>
        </p:txBody>
      </p:sp>
      <p:pic>
        <p:nvPicPr>
          <p:cNvPr id="4" name="Picture 3" descr="baglanti.png"/>
          <p:cNvPicPr>
            <a:picLocks noChangeAspect="1"/>
          </p:cNvPicPr>
          <p:nvPr/>
        </p:nvPicPr>
        <p:blipFill>
          <a:blip r:embed="rId2"/>
          <a:stretch>
            <a:fillRect/>
          </a:stretch>
        </p:blipFill>
        <p:spPr>
          <a:xfrm>
            <a:off x="5120640" y="1371600"/>
            <a:ext cx="6766560" cy="4959888"/>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22A43"/>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tIns="137160"/>
          <a:lstStyle/>
          <a:p>
            <a:pPr algn="l"/>
            <a:r>
              <a:rPr sz="3000" b="1">
                <a:solidFill>
                  <a:srgbClr val="FFFFFF"/>
                </a:solidFill>
                <a:latin typeface="Calibri"/>
              </a:rPr>
              <a:t>Dijital İkiz (Benzetim)</a:t>
            </a:r>
          </a:p>
        </p:txBody>
      </p:sp>
      <p:sp>
        <p:nvSpPr>
          <p:cNvPr id="3" name="TextBox 2"/>
          <p:cNvSpPr txBox="1"/>
          <p:nvPr/>
        </p:nvSpPr>
        <p:spPr>
          <a:xfrm>
            <a:off x="502920" y="1371600"/>
            <a:ext cx="10789920" cy="4937760"/>
          </a:xfrm>
          <a:prstGeom prst="rect">
            <a:avLst/>
          </a:prstGeom>
          <a:noFill/>
        </p:spPr>
        <p:txBody>
          <a:bodyPr wrap="square">
            <a:spAutoFit/>
          </a:bodyPr>
          <a:lstStyle/>
          <a:p>
            <a:pPr algn="l">
              <a:spcAft>
                <a:spcPts val="1200"/>
              </a:spcAft>
            </a:pPr>
            <a:r>
              <a:rPr sz="2000" b="1">
                <a:solidFill>
                  <a:srgbClr val="122A43"/>
                </a:solidFill>
                <a:latin typeface="Calibri"/>
              </a:rPr>
              <a:t>•  Donanımı kurmadan mantığı test eden 3B tarayıcı benzetimi</a:t>
            </a:r>
          </a:p>
          <a:p>
            <a:pPr algn="l">
              <a:spcAft>
                <a:spcPts val="1200"/>
              </a:spcAft>
            </a:pPr>
            <a:r>
              <a:rPr sz="2000" b="1">
                <a:solidFill>
                  <a:srgbClr val="122A43"/>
                </a:solidFill>
                <a:latin typeface="Calibri"/>
              </a:rPr>
              <a:t>•  Alev, su, tarama ışını ve durumlar gerçek zamanlı görselleştirilir</a:t>
            </a:r>
          </a:p>
          <a:p>
            <a:pPr algn="l">
              <a:spcAft>
                <a:spcPts val="1200"/>
              </a:spcAft>
            </a:pPr>
            <a:r>
              <a:rPr sz="2000" b="1">
                <a:solidFill>
                  <a:srgbClr val="122A43"/>
                </a:solidFill>
                <a:latin typeface="Calibri"/>
              </a:rPr>
              <a:t>•  Web Serial ile gerçek karta bağlanabilir (donanım-içinde-döngü)</a:t>
            </a:r>
          </a:p>
          <a:p>
            <a:pPr algn="l">
              <a:spcAft>
                <a:spcPts val="1200"/>
              </a:spcAft>
            </a:pPr>
            <a:r>
              <a:rPr sz="2000" b="1">
                <a:solidFill>
                  <a:srgbClr val="122A43"/>
                </a:solidFill>
                <a:latin typeface="Calibri"/>
              </a:rPr>
              <a:t>•  Hata riskini ve maliyeti azaltır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22A43"/>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tIns="137160"/>
          <a:lstStyle/>
          <a:p>
            <a:pPr algn="l"/>
            <a:r>
              <a:rPr sz="3000" b="1">
                <a:solidFill>
                  <a:srgbClr val="FFFFFF"/>
                </a:solidFill>
                <a:latin typeface="Calibri"/>
              </a:rPr>
              <a:t>Sonuç ve Kazanımlar</a:t>
            </a:r>
          </a:p>
        </p:txBody>
      </p:sp>
      <p:sp>
        <p:nvSpPr>
          <p:cNvPr id="3" name="TextBox 2"/>
          <p:cNvSpPr txBox="1"/>
          <p:nvPr/>
        </p:nvSpPr>
        <p:spPr>
          <a:xfrm>
            <a:off x="502920" y="1371600"/>
            <a:ext cx="10789920" cy="4937760"/>
          </a:xfrm>
          <a:prstGeom prst="rect">
            <a:avLst/>
          </a:prstGeom>
          <a:noFill/>
        </p:spPr>
        <p:txBody>
          <a:bodyPr wrap="square">
            <a:spAutoFit/>
          </a:bodyPr>
          <a:lstStyle/>
          <a:p>
            <a:pPr algn="l">
              <a:spcAft>
                <a:spcPts val="1200"/>
              </a:spcAft>
            </a:pPr>
            <a:r>
              <a:rPr sz="2100" b="1">
                <a:solidFill>
                  <a:srgbClr val="122A43"/>
                </a:solidFill>
                <a:latin typeface="Calibri"/>
              </a:rPr>
              <a:t>•  Çalışan prototip + bilgisayar benzetimi elde edildi</a:t>
            </a:r>
          </a:p>
          <a:p>
            <a:pPr algn="l">
              <a:spcAft>
                <a:spcPts val="1200"/>
              </a:spcAft>
            </a:pPr>
            <a:r>
              <a:rPr sz="2100" b="1">
                <a:solidFill>
                  <a:srgbClr val="122A43"/>
                </a:solidFill>
                <a:latin typeface="Calibri"/>
              </a:rPr>
              <a:t>•  Tara–bul–nişan al–söndür mantığı tutarlı çalışıyor</a:t>
            </a:r>
          </a:p>
          <a:p>
            <a:pPr algn="l">
              <a:spcAft>
                <a:spcPts val="1200"/>
              </a:spcAft>
            </a:pPr>
            <a:r>
              <a:rPr sz="2100" b="1">
                <a:solidFill>
                  <a:srgbClr val="122A43"/>
                </a:solidFill>
                <a:latin typeface="Calibri"/>
              </a:rPr>
              <a:t>•  Düşük maliyet (~1025 TL), modüler ve genişletilebilir</a:t>
            </a:r>
          </a:p>
          <a:p>
            <a:pPr algn="l">
              <a:spcAft>
                <a:spcPts val="1200"/>
              </a:spcAft>
            </a:pPr>
            <a:r>
              <a:rPr sz="2100" b="1">
                <a:solidFill>
                  <a:srgbClr val="122A43"/>
                </a:solidFill>
                <a:latin typeface="Calibri"/>
              </a:rPr>
              <a:t>•  Erken yangın müdahalesi; sadece su kullanır (kimyasal yok)</a:t>
            </a:r>
          </a:p>
          <a:p>
            <a:pPr algn="l">
              <a:spcAft>
                <a:spcPts val="1200"/>
              </a:spcAft>
            </a:pPr>
            <a:r>
              <a:rPr sz="2100" b="1">
                <a:solidFill>
                  <a:srgbClr val="122A43"/>
                </a:solidFill>
                <a:latin typeface="Calibri"/>
              </a:rPr>
              <a:t>•  Gelecek: kamera, gaz sensörü, kablosuz uyarı eklenebilir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22A43"/>
        </a:solidFill>
        <a:effectLst/>
      </p:bgPr>
    </p:bg>
    <p:spTree>
      <p:nvGrpSpPr>
        <p:cNvPr id="1" name=""/>
        <p:cNvGrpSpPr/>
        <p:nvPr/>
      </p:nvGrpSpPr>
      <p:grpSpPr/>
      <p:sp>
        <p:nvSpPr>
          <p:cNvPr id="2" name="TextBox 1"/>
          <p:cNvSpPr txBox="1"/>
          <p:nvPr/>
        </p:nvSpPr>
        <p:spPr>
          <a:xfrm>
            <a:off x="731520" y="2468880"/>
            <a:ext cx="10698480" cy="1828800"/>
          </a:xfrm>
          <a:prstGeom prst="rect">
            <a:avLst/>
          </a:prstGeom>
          <a:noFill/>
        </p:spPr>
        <p:txBody>
          <a:bodyPr wrap="none">
            <a:spAutoFit/>
          </a:bodyPr>
          <a:lstStyle/>
          <a:p>
            <a:pPr algn="ctr"/>
            <a:r>
              <a:rPr sz="4800" b="1">
                <a:solidFill>
                  <a:srgbClr val="FFFFFF"/>
                </a:solidFill>
                <a:latin typeface="Calibri"/>
              </a:rPr>
              <a:t>Teşekkürler</a:t>
            </a:r>
          </a:p>
          <a:p>
            <a:pPr algn="ctr"/>
            <a:r>
              <a:rPr sz="2600" b="0">
                <a:solidFill>
                  <a:srgbClr val="9FC4E8"/>
                </a:solidFill>
                <a:latin typeface="Calibri"/>
              </a:rPr>
              <a:t>Sorularınız?</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